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93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entury Gothic" panose="020B0502020202020204" pitchFamily="34" charset="0"/>
      <p:regular r:id="rId17"/>
      <p:bold r:id="rId18"/>
      <p:italic r:id="rId19"/>
      <p:boldItalic r:id="rId20"/>
    </p:embeddedFont>
    <p:embeddedFont>
      <p:font typeface="Geist" panose="020B0604020202020204" charset="0"/>
      <p:regular r:id="rId21"/>
    </p:embeddedFont>
    <p:embeddedFont>
      <p:font typeface="Wingdings 3" panose="05040102010807070707" pitchFamily="18" charset="2"/>
      <p:regular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516" y="-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8034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99063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13830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53112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76033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40791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5531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77892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59520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72465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61154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14077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127576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3926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35235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974619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21916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774477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47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7376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  <p:sldLayoutId id="2147483805" r:id="rId12"/>
    <p:sldLayoutId id="2147483806" r:id="rId13"/>
    <p:sldLayoutId id="2147483807" r:id="rId14"/>
    <p:sldLayoutId id="2147483808" r:id="rId15"/>
    <p:sldLayoutId id="2147483809" r:id="rId16"/>
    <p:sldLayoutId id="2147483810" r:id="rId17"/>
    <p:sldLayoutId id="2147483811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95510DCE-1B56-45D8-A971-4E7D87318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286848" cy="6858000"/>
          </a:xfrm>
          <a:prstGeom prst="flowChartDelay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56724" y="607420"/>
            <a:ext cx="6418966" cy="59064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Noto Serif Bold" pitchFamily="34" charset="-122"/>
                <a:cs typeface="Arial" panose="020B0604020202020204" pitchFamily="34" charset="0"/>
              </a:rPr>
              <a:t>BeeTech – Salve as Abelhas</a:t>
            </a:r>
            <a:endParaRPr lang="en-US" sz="37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878830" y="1422414"/>
            <a:ext cx="6296860" cy="59064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ea typeface="Noto Serif Bold" pitchFamily="34" charset="-122"/>
                <a:cs typeface="Arial" panose="020B0604020202020204" pitchFamily="34" charset="0"/>
              </a:rPr>
              <a:t>Biodiversidade que Vira Solução</a:t>
            </a:r>
            <a:endParaRPr lang="en-US" sz="28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233360" y="4218087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3CF4D2A-E889-446C-ABEA-6D61F4F899B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524301" y="2828058"/>
            <a:ext cx="7005919" cy="2508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 Desafio: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Preservar Abelhas Sem Ferrão (ASF) exige engajamento prático e continuado.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Proposta: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Integração entre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meliponicultura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educação ambiental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tecnologia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Tese: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Transformar a conservação passiva em um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ecossistema ativo e rentável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661475" y="576064"/>
            <a:ext cx="1095645" cy="264616"/>
          </a:xfrm>
          <a:prstGeom prst="roundRect">
            <a:avLst>
              <a:gd name="adj" fmla="val 47412"/>
            </a:avLst>
          </a:prstGeom>
          <a:solidFill>
            <a:srgbClr val="CCFFEF"/>
          </a:solidFill>
          <a:ln/>
        </p:spPr>
      </p:sp>
      <p:sp>
        <p:nvSpPr>
          <p:cNvPr id="4" name="Text 1"/>
          <p:cNvSpPr/>
          <p:nvPr/>
        </p:nvSpPr>
        <p:spPr>
          <a:xfrm>
            <a:off x="765950" y="628253"/>
            <a:ext cx="1496281" cy="16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4B4A4A"/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  <a:t>O PROBLEMA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61475" y="904875"/>
            <a:ext cx="6296860" cy="10890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006747"/>
                </a:solidFill>
                <a:latin typeface="Arial" panose="020B0604020202020204" pitchFamily="34" charset="0"/>
                <a:ea typeface="Noto Serif Bold" pitchFamily="34" charset="-122"/>
                <a:cs typeface="Arial" panose="020B0604020202020204" pitchFamily="34" charset="0"/>
              </a:rPr>
              <a:t>Por Que as Abelhas Nativas Estão em Risco?</a:t>
            </a:r>
            <a:endParaRPr lang="en-US" sz="3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61475" y="2234803"/>
            <a:ext cx="3068065" cy="2347119"/>
          </a:xfrm>
          <a:prstGeom prst="roundRect">
            <a:avLst>
              <a:gd name="adj" fmla="val 6682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2048" y="2415381"/>
            <a:ext cx="2706917" cy="278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Noto Color Emoji" pitchFamily="34" charset="-122"/>
                <a:cs typeface="Arial" panose="020B0604020202020204" pitchFamily="34" charset="0"/>
              </a:rPr>
              <a:t>🏙️</a:t>
            </a:r>
            <a:r>
              <a:rPr lang="en-US" sz="1700" b="1" dirty="0">
                <a:solidFill>
                  <a:srgbClr val="4B4A4A"/>
                </a:solidFill>
                <a:latin typeface="Arial" panose="020B0604020202020204" pitchFamily="34" charset="0"/>
                <a:ea typeface="Noto Serif Bold" pitchFamily="34" charset="-122"/>
                <a:cs typeface="Arial" panose="020B0604020202020204" pitchFamily="34" charset="0"/>
              </a:rPr>
              <a:t> Perda de Habitat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42048" y="2790230"/>
            <a:ext cx="2706917" cy="13389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  <a:t>Urbanização acelerada e uso imoderado de defensivos dizimam polinizadores nativos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3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890171" y="2234803"/>
            <a:ext cx="3068164" cy="2347119"/>
          </a:xfrm>
          <a:prstGeom prst="roundRect">
            <a:avLst>
              <a:gd name="adj" fmla="val 6682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70744" y="2415381"/>
            <a:ext cx="2707017" cy="55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Noto Color Emoji" pitchFamily="34" charset="-122"/>
                <a:cs typeface="Arial" panose="020B0604020202020204" pitchFamily="34" charset="0"/>
              </a:rPr>
              <a:t>📵</a:t>
            </a:r>
            <a:r>
              <a:rPr lang="en-US" sz="1700" b="1" dirty="0">
                <a:solidFill>
                  <a:srgbClr val="4B4A4A"/>
                </a:solidFill>
                <a:latin typeface="Arial" panose="020B0604020202020204" pitchFamily="34" charset="0"/>
                <a:ea typeface="Noto Serif Bold" pitchFamily="34" charset="-122"/>
                <a:cs typeface="Arial" panose="020B0604020202020204" pitchFamily="34" charset="0"/>
              </a:rPr>
              <a:t> Falta de Engajamento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070744" y="3062387"/>
            <a:ext cx="2707017" cy="13389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  <a:t>As pessoas querem ajudar, mas faltam ferramentas práticas, seguras e contínuas para agir em cidades e escolas</a:t>
            </a:r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3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61475" y="4742557"/>
            <a:ext cx="6296860" cy="1539379"/>
          </a:xfrm>
          <a:prstGeom prst="roundRect">
            <a:avLst>
              <a:gd name="adj" fmla="val 10188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2048" y="4923135"/>
            <a:ext cx="5935712" cy="278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Noto Color Emoji" pitchFamily="34" charset="-122"/>
                <a:cs typeface="Arial" panose="020B0604020202020204" pitchFamily="34" charset="0"/>
              </a:rPr>
              <a:t>🐝</a:t>
            </a:r>
            <a:r>
              <a:rPr lang="en-US" sz="1700" b="1" dirty="0">
                <a:solidFill>
                  <a:srgbClr val="4B4A4A"/>
                </a:solidFill>
                <a:latin typeface="Arial" panose="020B0604020202020204" pitchFamily="34" charset="0"/>
                <a:ea typeface="Noto Serif Bold" pitchFamily="34" charset="-122"/>
                <a:cs typeface="Arial" panose="020B0604020202020204" pitchFamily="34" charset="0"/>
              </a:rPr>
              <a:t> Espécies Invisíveis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42048" y="5297984"/>
            <a:ext cx="5935712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chemeClr val="bg1"/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  <a:t>Abelhas Sem Ferrão (ASF) são pouco conhecidas, apesar de seu papel insubstituível nos ecossistemas brasileiros.</a:t>
            </a:r>
            <a:endParaRPr lang="en-US" sz="13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45517"/>
            <a:ext cx="884017" cy="237827"/>
          </a:xfrm>
          <a:prstGeom prst="roundRect">
            <a:avLst>
              <a:gd name="adj" fmla="val 47388"/>
            </a:avLst>
          </a:prstGeom>
          <a:solidFill>
            <a:srgbClr val="CCFFEF"/>
          </a:solidFill>
          <a:ln/>
        </p:spPr>
      </p:sp>
      <p:sp>
        <p:nvSpPr>
          <p:cNvPr id="3" name="Text 1"/>
          <p:cNvSpPr/>
          <p:nvPr/>
        </p:nvSpPr>
        <p:spPr>
          <a:xfrm>
            <a:off x="755333" y="692448"/>
            <a:ext cx="1305885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4B4A4A"/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  <a:t>A SOLUÇÃO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61475" y="935137"/>
            <a:ext cx="10868745" cy="4891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006747"/>
                </a:solidFill>
                <a:latin typeface="Arial" panose="020B0604020202020204" pitchFamily="34" charset="0"/>
                <a:ea typeface="Noto Serif Bold" pitchFamily="34" charset="-122"/>
                <a:cs typeface="Arial" panose="020B0604020202020204" pitchFamily="34" charset="0"/>
              </a:rPr>
              <a:t>BeeTech: </a:t>
            </a:r>
            <a:r>
              <a:rPr lang="pt-BR" sz="3050" b="1" dirty="0">
                <a:solidFill>
                  <a:srgbClr val="006747"/>
                </a:solidFill>
                <a:latin typeface="Arial" panose="020B0604020202020204" pitchFamily="34" charset="0"/>
                <a:ea typeface="Noto Serif Bold" pitchFamily="34" charset="-122"/>
                <a:cs typeface="Arial" panose="020B0604020202020204" pitchFamily="34" charset="0"/>
              </a:rPr>
              <a:t>A Solução e o Modelo de Negócio</a:t>
            </a:r>
            <a:endParaRPr lang="en-US" sz="3050" b="1" dirty="0">
              <a:solidFill>
                <a:srgbClr val="006747"/>
              </a:solidFill>
              <a:latin typeface="Arial" panose="020B0604020202020204" pitchFamily="34" charset="0"/>
              <a:ea typeface="Noto Serif Bold" pitchFamily="34" charset="-122"/>
              <a:cs typeface="Arial" panose="020B0604020202020204" pitchFamily="34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4224" y="1668399"/>
            <a:ext cx="6162535" cy="179219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074576" y="1776142"/>
            <a:ext cx="3128587" cy="257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ea typeface="Noto Color Emoji" pitchFamily="34" charset="-122"/>
                <a:cs typeface="Arial" panose="020B0604020202020204" pitchFamily="34" charset="0"/>
              </a:rPr>
              <a:t>🎨</a:t>
            </a:r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ea typeface="Noto Serif Bold" pitchFamily="34" charset="-122"/>
                <a:cs typeface="Arial" panose="020B0604020202020204" pitchFamily="34" charset="0"/>
              </a:rPr>
              <a:t> Caixas Personalizadas</a:t>
            </a:r>
            <a:endParaRPr lang="en-US" sz="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7074576" y="2635187"/>
            <a:ext cx="3128587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64224" y="3667722"/>
            <a:ext cx="6162535" cy="152187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95847" y="3802474"/>
            <a:ext cx="3128587" cy="257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ea typeface="Noto Color Emoji" pitchFamily="34" charset="-122"/>
                <a:cs typeface="Arial" panose="020B0604020202020204" pitchFamily="34" charset="0"/>
              </a:rPr>
              <a:t>🌿</a:t>
            </a:r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ea typeface="Noto Serif Bold" pitchFamily="34" charset="-122"/>
                <a:cs typeface="Arial" panose="020B0604020202020204" pitchFamily="34" charset="0"/>
              </a:rPr>
              <a:t> Kit do Habitat - </a:t>
            </a:r>
            <a:r>
              <a:rPr lang="pt-BR" sz="1500" b="1" dirty="0">
                <a:solidFill>
                  <a:schemeClr val="bg1"/>
                </a:solidFill>
                <a:latin typeface="Arial" panose="020B0604020202020204" pitchFamily="34" charset="0"/>
                <a:ea typeface="Noto Serif Bold" pitchFamily="34" charset="-122"/>
                <a:cs typeface="Arial" panose="020B0604020202020204" pitchFamily="34" charset="0"/>
              </a:rPr>
              <a:t>Venda Integrada &amp; Insumos</a:t>
            </a:r>
            <a:endParaRPr lang="en-US" sz="1500" b="1" dirty="0">
              <a:solidFill>
                <a:schemeClr val="bg1"/>
              </a:solidFill>
              <a:latin typeface="Arial" panose="020B0604020202020204" pitchFamily="34" charset="0"/>
              <a:ea typeface="Noto Serif Bold" pitchFamily="34" charset="-122"/>
              <a:cs typeface="Arial" panose="020B0604020202020204" pitchFamily="3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5915936" y="4230093"/>
            <a:ext cx="3128587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64224" y="5511151"/>
            <a:ext cx="6116103" cy="119568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915936" y="5649176"/>
            <a:ext cx="3128587" cy="257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ea typeface="Noto Color Emoji" pitchFamily="34" charset="-122"/>
                <a:cs typeface="Arial" panose="020B0604020202020204" pitchFamily="34" charset="0"/>
              </a:rPr>
              <a:t>📱</a:t>
            </a:r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ea typeface="Noto Serif Bold" pitchFamily="34" charset="-122"/>
                <a:cs typeface="Arial" panose="020B0604020202020204" pitchFamily="34" charset="0"/>
              </a:rPr>
              <a:t> App Educativo</a:t>
            </a:r>
            <a:endParaRPr lang="en-US" sz="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5962368" y="5973964"/>
            <a:ext cx="5386950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pt-BR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Aplicativo educacional gamificado que retém a comunidade e cria um ecossistema recorrente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4A2CBDB4-6729-4133-8A83-D7318C9668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7914" y="1791509"/>
            <a:ext cx="4853565" cy="4371148"/>
          </a:xfrm>
          <a:prstGeom prst="rect">
            <a:avLst/>
          </a:prstGeom>
        </p:spPr>
      </p:pic>
      <p:sp>
        <p:nvSpPr>
          <p:cNvPr id="19" name="Rectangle 4">
            <a:extLst>
              <a:ext uri="{FF2B5EF4-FFF2-40B4-BE49-F238E27FC236}">
                <a16:creationId xmlns:a16="http://schemas.microsoft.com/office/drawing/2014/main" id="{B2C764B4-28F5-481C-A767-11DD0039C1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9636" y="1983268"/>
            <a:ext cx="593171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Design arquitetônico exclusivo que gera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pertencimento, engajamento nas redes sociais e valor sentimental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Captura a lacun</a:t>
            </a:r>
            <a:r>
              <a:rPr lang="pt-BR" altLang="pt-BR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mercado B2B/ESG e Escolas que foge das caixas brutas e genéricas.</a:t>
            </a:r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0F4000B0-299F-4AFF-8E76-4A60EF16D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5936" y="3989272"/>
            <a:ext cx="561428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Modelo que vai além da estrutura física: venda de 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mudas, sementes e atrativos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Resolve o "deserto alimentar" das abelhas e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aumenta o ticket médio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cliente.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0AD4E32E-B808-46FE-9B1A-3AFB8B304403}"/>
              </a:ext>
            </a:extLst>
          </p:cNvPr>
          <p:cNvSpPr/>
          <p:nvPr/>
        </p:nvSpPr>
        <p:spPr>
          <a:xfrm>
            <a:off x="330565" y="1142799"/>
            <a:ext cx="11645153" cy="82619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hape 0"/>
          <p:cNvSpPr/>
          <p:nvPr/>
        </p:nvSpPr>
        <p:spPr>
          <a:xfrm>
            <a:off x="661475" y="338670"/>
            <a:ext cx="1327414" cy="210741"/>
          </a:xfrm>
          <a:prstGeom prst="roundRect">
            <a:avLst>
              <a:gd name="adj" fmla="val 47425"/>
            </a:avLst>
          </a:prstGeom>
          <a:solidFill>
            <a:srgbClr val="CCFFEF"/>
          </a:solidFill>
          <a:ln/>
        </p:spPr>
      </p:sp>
      <p:sp>
        <p:nvSpPr>
          <p:cNvPr id="3" name="Text 1"/>
          <p:cNvSpPr/>
          <p:nvPr/>
        </p:nvSpPr>
        <p:spPr>
          <a:xfrm>
            <a:off x="744717" y="380243"/>
            <a:ext cx="1770514" cy="127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  <a:t>MODELO DE NEGÓCIO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388" y="652106"/>
            <a:ext cx="4836672" cy="39524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6747"/>
                </a:solidFill>
                <a:latin typeface="Arial" panose="020B0604020202020204" pitchFamily="34" charset="0"/>
                <a:ea typeface="Noto Serif Bold" pitchFamily="34" charset="-122"/>
                <a:cs typeface="Arial" panose="020B0604020202020204" pitchFamily="34" charset="0"/>
              </a:rPr>
              <a:t>O Kit do Habitat Completo</a:t>
            </a:r>
            <a:endParaRPr lang="en-US" sz="2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65" y="2132013"/>
            <a:ext cx="6946131" cy="3936206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5181" y="1188688"/>
            <a:ext cx="208156" cy="2081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74229" y="1184372"/>
            <a:ext cx="3086916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chemeClr val="bg1"/>
                </a:solidFill>
                <a:latin typeface="Arial" panose="020B0604020202020204" pitchFamily="34" charset="0"/>
                <a:ea typeface="Noto Serif Bold" pitchFamily="34" charset="-122"/>
                <a:cs typeface="Arial" panose="020B0604020202020204" pitchFamily="34" charset="0"/>
              </a:rPr>
              <a:t>Colmeia Personalizada</a:t>
            </a:r>
            <a:endParaRPr lang="en-US" sz="13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974229" y="1462383"/>
            <a:ext cx="3086916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  <a:t>Caixa com design exclusivo para o ambiente do cliente</a:t>
            </a:r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40528" y="1188688"/>
            <a:ext cx="208156" cy="20816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39576" y="1184372"/>
            <a:ext cx="3086916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chemeClr val="bg1"/>
                </a:solidFill>
                <a:latin typeface="Arial" panose="020B0604020202020204" pitchFamily="34" charset="0"/>
                <a:ea typeface="Noto Serif Bold" pitchFamily="34" charset="-122"/>
                <a:cs typeface="Arial" panose="020B0604020202020204" pitchFamily="34" charset="0"/>
              </a:rPr>
              <a:t>Mudas e Sementes Nativas</a:t>
            </a:r>
            <a:endParaRPr lang="en-US" sz="13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4639576" y="1462383"/>
            <a:ext cx="3086916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  <a:t>Espécies melíferas específicas para cada região do Brasil</a:t>
            </a:r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05874" y="1188688"/>
            <a:ext cx="208156" cy="20816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304922" y="1184372"/>
            <a:ext cx="3086916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chemeClr val="bg1"/>
                </a:solidFill>
                <a:latin typeface="Arial" panose="020B0604020202020204" pitchFamily="34" charset="0"/>
                <a:ea typeface="Noto Serif Bold" pitchFamily="34" charset="-122"/>
                <a:cs typeface="Arial" panose="020B0604020202020204" pitchFamily="34" charset="0"/>
              </a:rPr>
              <a:t>Micro-Refúgio Ecológico</a:t>
            </a:r>
            <a:endParaRPr lang="en-US" sz="13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8304922" y="1462383"/>
            <a:ext cx="3086916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  <a:t>Quintal, varanda ou jardim escolar transformado em habitat vivo</a:t>
            </a:r>
            <a:endParaRPr lang="en-US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361A5318-C5C8-4D70-BB55-7EBC5FF34C4A}"/>
              </a:ext>
            </a:extLst>
          </p:cNvPr>
          <p:cNvSpPr/>
          <p:nvPr/>
        </p:nvSpPr>
        <p:spPr>
          <a:xfrm>
            <a:off x="7726492" y="2079198"/>
            <a:ext cx="3565058" cy="43378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6747"/>
                </a:solidFill>
                <a:latin typeface="Arial" panose="020B0604020202020204" pitchFamily="34" charset="0"/>
                <a:ea typeface="Noto Serif Bold" pitchFamily="34" charset="-122"/>
                <a:cs typeface="Arial" panose="020B0604020202020204" pitchFamily="34" charset="0"/>
              </a:rPr>
              <a:t>Arranque e Retorno</a:t>
            </a:r>
            <a:endParaRPr lang="en-US" sz="2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D50E1DB3-C177-4960-936D-F8467F7947A3}"/>
              </a:ext>
            </a:extLst>
          </p:cNvPr>
          <p:cNvSpPr/>
          <p:nvPr/>
        </p:nvSpPr>
        <p:spPr>
          <a:xfrm>
            <a:off x="7311980" y="2565797"/>
            <a:ext cx="4700859" cy="423481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6984BF2A-699A-40E6-AF9A-982F542C20E2}"/>
              </a:ext>
            </a:extLst>
          </p:cNvPr>
          <p:cNvSpPr/>
          <p:nvPr/>
        </p:nvSpPr>
        <p:spPr>
          <a:xfrm>
            <a:off x="7726492" y="2618612"/>
            <a:ext cx="4700859" cy="42348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  <a:t>💰 </a:t>
            </a:r>
            <a:r>
              <a:rPr lang="pt-BR" sz="1400" b="1" dirty="0">
                <a:solidFill>
                  <a:schemeClr val="bg1"/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  <a:t>Investimento Inicial: R$ 5.000</a:t>
            </a:r>
          </a:p>
          <a:p>
            <a:pPr>
              <a:lnSpc>
                <a:spcPct val="170000"/>
              </a:lnSpc>
            </a:pP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  <a:t>R$ 1.800 – Insumos, madeiras e embalagens</a:t>
            </a:r>
            <a:b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</a:b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  <a:t>R$ 1.500 – Ativos biológicos e sementes</a:t>
            </a:r>
            <a:b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</a:b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  <a:t>R$ 1.000 – Marketing e fortalecimento da marca</a:t>
            </a:r>
          </a:p>
          <a:p>
            <a:pPr>
              <a:lnSpc>
                <a:spcPct val="170000"/>
              </a:lnSpc>
            </a:pP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  <a:t>R$ 700 – Reserva operacional</a:t>
            </a:r>
          </a:p>
          <a:p>
            <a:pPr>
              <a:lnSpc>
                <a:spcPct val="170000"/>
              </a:lnSpc>
            </a:pPr>
            <a:endParaRPr lang="pt-BR" sz="1200" dirty="0">
              <a:solidFill>
                <a:schemeClr val="bg1">
                  <a:lumMod val="85000"/>
                  <a:lumOff val="15000"/>
                </a:schemeClr>
              </a:solidFill>
              <a:latin typeface="Arial" panose="020B0604020202020204" pitchFamily="34" charset="0"/>
              <a:ea typeface="Geist" pitchFamily="34" charset="-122"/>
              <a:cs typeface="Arial" panose="020B0604020202020204" pitchFamily="34" charset="0"/>
            </a:endParaRPr>
          </a:p>
          <a:p>
            <a:pPr>
              <a:lnSpc>
                <a:spcPct val="170000"/>
              </a:lnSpc>
            </a:pPr>
            <a:r>
              <a:rPr lang="pt-BR" sz="12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⚙️ 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  <a:t>Operação Lean (Sob Encomenda)</a:t>
            </a:r>
            <a:b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</a:b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  <a:t>Produção via pré-venda: estoque zero e proteção </a:t>
            </a:r>
            <a:b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</a:b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  <a:t>total do fluxo de caixa</a:t>
            </a:r>
          </a:p>
          <a:p>
            <a:pPr>
              <a:lnSpc>
                <a:spcPct val="170000"/>
              </a:lnSpc>
            </a:pPr>
            <a:endParaRPr lang="pt-BR" sz="1200" dirty="0">
              <a:solidFill>
                <a:schemeClr val="bg1"/>
              </a:solidFill>
              <a:latin typeface="Arial" panose="020B0604020202020204" pitchFamily="34" charset="0"/>
              <a:ea typeface="Geist" pitchFamily="34" charset="-122"/>
              <a:cs typeface="Arial" panose="020B0604020202020204" pitchFamily="34" charset="0"/>
            </a:endParaRPr>
          </a:p>
          <a:p>
            <a:pPr>
              <a:lnSpc>
                <a:spcPct val="170000"/>
              </a:lnSpc>
            </a:pP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📈 </a:t>
            </a:r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  <a:t>Métricas de Sucesso </a:t>
            </a:r>
          </a:p>
          <a:p>
            <a:pPr>
              <a:lnSpc>
                <a:spcPct val="170000"/>
              </a:lnSpc>
            </a:pPr>
            <a:r>
              <a:rPr lang="pt-BR" sz="1200" b="1" dirty="0">
                <a:solidFill>
                  <a:schemeClr val="bg1"/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  <a:t>Projeção de vendas inicial: 1.200 – 1.600 / mês</a:t>
            </a:r>
            <a:b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</a:br>
            <a:r>
              <a:rPr lang="pt-BR" sz="1200" b="1" dirty="0">
                <a:solidFill>
                  <a:schemeClr val="bg1"/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  <a:t>Payback esperado: 4 a 8 meses</a:t>
            </a:r>
          </a:p>
          <a:p>
            <a:pPr>
              <a:lnSpc>
                <a:spcPct val="116000"/>
              </a:lnSpc>
            </a:pPr>
            <a:endParaRPr lang="pt-BR" sz="1200" dirty="0">
              <a:solidFill>
                <a:schemeClr val="bg1"/>
              </a:solidFill>
              <a:latin typeface="Geist" pitchFamily="34" charset="0"/>
              <a:ea typeface="Geist" pitchFamily="34" charset="-122"/>
              <a:cs typeface="Geist" pitchFamily="34" charset="-120"/>
            </a:endParaRPr>
          </a:p>
          <a:p>
            <a:pPr>
              <a:lnSpc>
                <a:spcPct val="116000"/>
              </a:lnSpc>
            </a:pPr>
            <a:br>
              <a:rPr lang="pt-BR" sz="12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</a:br>
            <a:endParaRPr lang="pt-BR" sz="1200" dirty="0">
              <a:solidFill>
                <a:schemeClr val="bg1"/>
              </a:solidFill>
              <a:latin typeface="Geist" pitchFamily="34" charset="0"/>
              <a:ea typeface="Geist" pitchFamily="34" charset="-122"/>
              <a:cs typeface="Geist" pitchFamily="34" charset="-120"/>
            </a:endParaRPr>
          </a:p>
          <a:p>
            <a:pPr marL="0" indent="0" algn="l">
              <a:lnSpc>
                <a:spcPct val="116000"/>
              </a:lnSpc>
              <a:buNone/>
            </a:pPr>
            <a:endParaRPr lang="pt-BR" sz="1200" dirty="0">
              <a:solidFill>
                <a:schemeClr val="bg1"/>
              </a:solidFill>
              <a:latin typeface="Geist" pitchFamily="34" charset="0"/>
              <a:ea typeface="Geist" pitchFamily="34" charset="-122"/>
              <a:cs typeface="Geist" pitchFamily="34" charset="-120"/>
            </a:endParaRPr>
          </a:p>
          <a:p>
            <a:pPr marL="0" indent="0" algn="l">
              <a:lnSpc>
                <a:spcPct val="116000"/>
              </a:lnSpc>
              <a:buNone/>
            </a:pPr>
            <a:endParaRPr lang="pt-BR" sz="1200" dirty="0">
              <a:solidFill>
                <a:schemeClr val="bg1"/>
              </a:solidFill>
              <a:latin typeface="Geist" pitchFamily="34" charset="0"/>
              <a:ea typeface="Geist" pitchFamily="34" charset="-122"/>
              <a:cs typeface="Geist" pitchFamily="34" charset="-120"/>
            </a:endParaRPr>
          </a:p>
          <a:p>
            <a:pPr marL="0" indent="0" algn="l">
              <a:lnSpc>
                <a:spcPct val="116000"/>
              </a:lnSpc>
              <a:buNone/>
            </a:pP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61475" y="557411"/>
            <a:ext cx="2078283" cy="287139"/>
          </a:xfrm>
          <a:prstGeom prst="roundRect">
            <a:avLst>
              <a:gd name="adj" fmla="val 47396"/>
            </a:avLst>
          </a:prstGeom>
          <a:solidFill>
            <a:schemeClr val="tx2"/>
          </a:solidFill>
          <a:ln w="6350">
            <a:solidFill>
              <a:srgbClr val="00674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74879" y="614065"/>
            <a:ext cx="246106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006747"/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  <a:t>PERTENCIMENTO E AFETO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61475" y="920155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6747"/>
                </a:solidFill>
                <a:latin typeface="Arial" panose="020B0604020202020204" pitchFamily="34" charset="0"/>
                <a:ea typeface="Noto Serif Bold" pitchFamily="34" charset="-122"/>
                <a:cs typeface="Arial" panose="020B0604020202020204" pitchFamily="34" charset="0"/>
              </a:rPr>
              <a:t>Caixas que Viram Identidade</a:t>
            </a:r>
            <a:endParaRPr lang="en-US" sz="3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61475" y="2384921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  <a:t>A meliponicultura tradicional usa caixas padronizadas e estritamente funcionais. A BeeTech transforma esse abrigo em uma </a:t>
            </a:r>
            <a:r>
              <a:rPr lang="en-US" sz="1450" b="1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Geist Bold" pitchFamily="34" charset="-122"/>
                <a:cs typeface="Arial" panose="020B0604020202020204" pitchFamily="34" charset="0"/>
              </a:rPr>
              <a:t>peça de design, orgulho local e conexão emocional</a:t>
            </a:r>
            <a:r>
              <a:rPr lang="en-US" sz="145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  <a:t> — para escolas, parques, residências e empresas.</a:t>
            </a:r>
            <a:endParaRPr lang="en-US" sz="1450" dirty="0">
              <a:solidFill>
                <a:schemeClr val="bg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61475" y="3807222"/>
            <a:ext cx="6296860" cy="2493367"/>
          </a:xfrm>
          <a:prstGeom prst="roundRect">
            <a:avLst>
              <a:gd name="adj" fmla="val 6823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67825" y="3813572"/>
            <a:ext cx="6284160" cy="1089124"/>
          </a:xfrm>
          <a:custGeom>
            <a:avLst/>
            <a:gdLst/>
            <a:ahLst/>
            <a:cxnLst/>
            <a:rect l="l" t="t" r="r" b="b"/>
            <a:pathLst>
              <a:path w="6284160" h="1089124">
                <a:moveTo>
                  <a:pt x="141764" y="0"/>
                </a:moveTo>
                <a:lnTo>
                  <a:pt x="6142396" y="0"/>
                </a:lnTo>
                <a:arcTo wR="141764" hR="141768" stAng="16200000" swAng="5400000"/>
                <a:lnTo>
                  <a:pt x="6284160" y="1089124"/>
                </a:lnTo>
                <a:lnTo>
                  <a:pt x="0" y="1089124"/>
                </a:lnTo>
                <a:lnTo>
                  <a:pt x="0" y="141768"/>
                </a:lnTo>
                <a:arcTo wR="141764" hR="141768" stAng="10800000" swAng="5400000"/>
                <a:close/>
              </a:path>
            </a:pathLst>
          </a:custGeom>
          <a:solidFill>
            <a:srgbClr val="D1EFE4"/>
          </a:solidFill>
          <a:ln/>
        </p:spPr>
      </p:sp>
      <p:sp>
        <p:nvSpPr>
          <p:cNvPr id="9" name="Text 6"/>
          <p:cNvSpPr/>
          <p:nvPr/>
        </p:nvSpPr>
        <p:spPr>
          <a:xfrm>
            <a:off x="856832" y="4002584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Arial" panose="020B0604020202020204" pitchFamily="34" charset="0"/>
                <a:ea typeface="Noto Serif Bold" pitchFamily="34" charset="-122"/>
                <a:cs typeface="Arial" panose="020B0604020202020204" pitchFamily="34" charset="0"/>
              </a:rPr>
              <a:t>Antes</a:t>
            </a:r>
            <a:endParaRPr lang="en-US" sz="1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56832" y="4411266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  <a:t>Caixa funcional, genérica, sem identidade visual ou apelo emocional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67825" y="4902696"/>
            <a:ext cx="6284160" cy="1391543"/>
          </a:xfrm>
          <a:custGeom>
            <a:avLst/>
            <a:gdLst/>
            <a:ahLst/>
            <a:cxnLst/>
            <a:rect l="l" t="t" r="r" b="b"/>
            <a:pathLst>
              <a:path w="6284160" h="1391543">
                <a:moveTo>
                  <a:pt x="0" y="0"/>
                </a:moveTo>
                <a:lnTo>
                  <a:pt x="6284160" y="0"/>
                </a:lnTo>
                <a:lnTo>
                  <a:pt x="6284160" y="1249775"/>
                </a:lnTo>
                <a:arcTo wR="141764" hR="141768" stAng="0" swAng="5400000"/>
                <a:lnTo>
                  <a:pt x="141764" y="1391543"/>
                </a:lnTo>
                <a:arcTo wR="141764" hR="141768" stAng="5400000" swAng="5400000"/>
                <a:lnTo>
                  <a:pt x="0" y="0"/>
                </a:lnTo>
                <a:close/>
              </a:path>
            </a:pathLst>
          </a:custGeom>
          <a:solidFill>
            <a:srgbClr val="D1EFE4"/>
          </a:solidFill>
          <a:ln/>
        </p:spPr>
      </p:sp>
      <p:sp>
        <p:nvSpPr>
          <p:cNvPr id="12" name="Shape 9"/>
          <p:cNvSpPr/>
          <p:nvPr/>
        </p:nvSpPr>
        <p:spPr>
          <a:xfrm>
            <a:off x="667825" y="4902696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B7D5CA"/>
          </a:solidFill>
          <a:ln/>
        </p:spPr>
      </p:sp>
      <p:sp>
        <p:nvSpPr>
          <p:cNvPr id="13" name="Text 10"/>
          <p:cNvSpPr/>
          <p:nvPr/>
        </p:nvSpPr>
        <p:spPr>
          <a:xfrm>
            <a:off x="856832" y="5091708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Arial" panose="020B0604020202020204" pitchFamily="34" charset="0"/>
                <a:ea typeface="Noto Serif Bold" pitchFamily="34" charset="-122"/>
                <a:cs typeface="Arial" panose="020B0604020202020204" pitchFamily="34" charset="0"/>
              </a:rPr>
              <a:t>Depois</a:t>
            </a:r>
            <a:endParaRPr lang="en-US" sz="1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56832" y="5500390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  <a:t>Caixa personalizada, estética e afetiva — gerando orgulho e cuidado contínuo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F74DB734-6922-455E-8F72-0CDD94FA1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0520" y="0"/>
            <a:ext cx="47014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75511F9E-412D-411B-8302-2B11ABBD4B54}"/>
              </a:ext>
            </a:extLst>
          </p:cNvPr>
          <p:cNvSpPr/>
          <p:nvPr/>
        </p:nvSpPr>
        <p:spPr>
          <a:xfrm>
            <a:off x="1325541" y="595661"/>
            <a:ext cx="8775700" cy="60643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EEDE4F04-7C61-4C71-8368-8F6D9CC72E1B}"/>
              </a:ext>
            </a:extLst>
          </p:cNvPr>
          <p:cNvSpPr/>
          <p:nvPr/>
        </p:nvSpPr>
        <p:spPr>
          <a:xfrm>
            <a:off x="5840927" y="3429000"/>
            <a:ext cx="5689600" cy="295909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94D7253-5736-4A63-A531-1D2FDD826AFD}"/>
              </a:ext>
            </a:extLst>
          </p:cNvPr>
          <p:cNvSpPr/>
          <p:nvPr/>
        </p:nvSpPr>
        <p:spPr>
          <a:xfrm>
            <a:off x="5840927" y="1607975"/>
            <a:ext cx="5689600" cy="175790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490641" y="238597"/>
            <a:ext cx="1217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6747"/>
                </a:solidFill>
                <a:latin typeface="Arial" panose="020B0604020202020204" pitchFamily="34" charset="0"/>
                <a:ea typeface="Noto Serif Bold" pitchFamily="34" charset="-122"/>
                <a:cs typeface="Arial" panose="020B0604020202020204" pitchFamily="34" charset="0"/>
              </a:rPr>
              <a:t>BeeTech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490641" y="745252"/>
            <a:ext cx="8775700" cy="456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4B4A4A"/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  <a:t>Como transformar a preservação em </a:t>
            </a:r>
            <a:r>
              <a:rPr lang="en-US" sz="2000" b="1" dirty="0">
                <a:solidFill>
                  <a:srgbClr val="4B4A4A"/>
                </a:solidFill>
                <a:latin typeface="Arial" panose="020B0604020202020204" pitchFamily="34" charset="0"/>
                <a:ea typeface="Geist Bold" pitchFamily="34" charset="-122"/>
                <a:cs typeface="Arial" panose="020B0604020202020204" pitchFamily="34" charset="0"/>
              </a:rPr>
              <a:t>hábito diário</a:t>
            </a:r>
            <a:r>
              <a:rPr lang="en-US" sz="2000" dirty="0">
                <a:solidFill>
                  <a:srgbClr val="4B4A4A"/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  <a:t> através da tecnologia.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096000" y="1267817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6747"/>
                </a:solidFill>
                <a:latin typeface="Arial" panose="020B0604020202020204" pitchFamily="34" charset="0"/>
                <a:ea typeface="Noto Serif Bold" pitchFamily="34" charset="-122"/>
                <a:cs typeface="Arial" panose="020B0604020202020204" pitchFamily="34" charset="0"/>
              </a:rPr>
              <a:t>Engajamento Continuado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096000" y="1683064"/>
            <a:ext cx="5319083" cy="174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1600" b="1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Mídia Espontânea:</a:t>
            </a:r>
            <a:r>
              <a:rPr lang="pt-BR" sz="160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Uma caixa bruta de madeira ninguém fotografa. Já uma caixa em formato de casinha temática com crianças em volta faz os pais e a escola postarem nas redes sociais. Esse apelo afetivo gera atração orgânica sem custo de marketing.</a:t>
            </a:r>
            <a:endParaRPr lang="en-US" sz="1600" dirty="0">
              <a:solidFill>
                <a:schemeClr val="bg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DA91BFDE-920B-43FD-86F8-FA5761D4D8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101" y="3558401"/>
            <a:ext cx="5472880" cy="3093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Margem (B2B &amp; ESG)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bg1">
                  <a:lumMod val="85000"/>
                  <a:lumOff val="1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Ação: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Projetos arquitetônicos sob medida para empresas, hotéis e condomínios.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Efeito: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Contratos de maior valor agregando valor à pauta socioambiental das marcas.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Receita Recorrente (Comunidade &amp; App)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bg1">
                  <a:lumMod val="85000"/>
                  <a:lumOff val="1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Ação: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Venda contínua de kits de sementes, atrativos e assinatura do app.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Efeito: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Fidelização de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hobbystas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 monetização de longo prazo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bg1">
                  <a:lumMod val="85000"/>
                  <a:lumOff val="1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10B25B8A-25E5-4152-A3B8-D46330189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995" y="1344971"/>
            <a:ext cx="5537396" cy="49840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3C0F5C40-6315-4A5E-BEAC-860EE8FFBCFA}"/>
              </a:ext>
            </a:extLst>
          </p:cNvPr>
          <p:cNvSpPr/>
          <p:nvPr/>
        </p:nvSpPr>
        <p:spPr>
          <a:xfrm>
            <a:off x="5130800" y="831751"/>
            <a:ext cx="6489700" cy="53201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0"/>
          <p:cNvSpPr/>
          <p:nvPr/>
        </p:nvSpPr>
        <p:spPr>
          <a:xfrm>
            <a:off x="5233360" y="535682"/>
            <a:ext cx="1595695" cy="242292"/>
          </a:xfrm>
          <a:prstGeom prst="roundRect">
            <a:avLst>
              <a:gd name="adj" fmla="val 47393"/>
            </a:avLst>
          </a:prstGeom>
          <a:noFill/>
          <a:ln w="6350">
            <a:solidFill>
              <a:srgbClr val="00674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329005" y="583505"/>
            <a:ext cx="2013991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6747"/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  <a:t>EDUCAÇÃO AMBIENTAL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233360" y="831751"/>
            <a:ext cx="6296860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006747"/>
                </a:solidFill>
                <a:latin typeface="Arial" panose="020B0604020202020204" pitchFamily="34" charset="0"/>
                <a:ea typeface="Noto Serif Bold" pitchFamily="34" charset="-122"/>
                <a:cs typeface="Arial" panose="020B0604020202020204" pitchFamily="34" charset="0"/>
              </a:rPr>
              <a:t>Da Sala de Aula ao Jardim Real</a:t>
            </a:r>
            <a:endParaRPr lang="en-US" sz="3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233360" y="1531938"/>
            <a:ext cx="6296860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  <a:t>O aplicativo BeeTech transforma aulas teóricas em </a:t>
            </a:r>
            <a:r>
              <a:rPr lang="en-US" sz="1250" b="1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Geist Bold" pitchFamily="34" charset="-122"/>
                <a:cs typeface="Arial" panose="020B0604020202020204" pitchFamily="34" charset="0"/>
              </a:rPr>
              <a:t>experiências vivas</a:t>
            </a:r>
            <a:r>
              <a:rPr lang="en-US" sz="125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  <a:t>. Alunos acompanham o ciclo das abelhas, registram o crescimento das plantas e aprendem sobre biodiversidade com dados reais.</a:t>
            </a:r>
            <a:endParaRPr lang="en-US" sz="1250" dirty="0">
              <a:solidFill>
                <a:schemeClr val="bg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388691"/>
            <a:ext cx="398651" cy="3986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33360" y="2955528"/>
            <a:ext cx="629686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Noto Serif Bold" pitchFamily="34" charset="-122"/>
                <a:cs typeface="Arial" panose="020B0604020202020204" pitchFamily="34" charset="0"/>
              </a:rPr>
              <a:t>Ciências e Biologia</a:t>
            </a:r>
            <a:endParaRPr lang="en-US" sz="1550" dirty="0">
              <a:solidFill>
                <a:schemeClr val="bg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5233360" y="3285331"/>
            <a:ext cx="629686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  <a:t>Conteúdo alinhado à BNCC para ensino fundamental e médio</a:t>
            </a:r>
            <a:endParaRPr lang="en-US" sz="1250" dirty="0">
              <a:solidFill>
                <a:schemeClr val="bg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3360" y="3789561"/>
            <a:ext cx="398651" cy="39866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233360" y="4356398"/>
            <a:ext cx="629686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Noto Serif Bold" pitchFamily="34" charset="-122"/>
                <a:cs typeface="Arial" panose="020B0604020202020204" pitchFamily="34" charset="0"/>
              </a:rPr>
              <a:t>Sustentabilidade Prática</a:t>
            </a:r>
            <a:endParaRPr lang="en-US" sz="1550" dirty="0">
              <a:solidFill>
                <a:schemeClr val="bg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5233360" y="4686201"/>
            <a:ext cx="629686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  <a:t>Projetos interdisciplinares com impacto mensurável no entorno escolar</a:t>
            </a:r>
            <a:endParaRPr lang="en-US" sz="1250" dirty="0">
              <a:solidFill>
                <a:schemeClr val="bg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33360" y="5190430"/>
            <a:ext cx="398651" cy="39866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233360" y="5757267"/>
            <a:ext cx="629686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Noto Serif Bold" pitchFamily="34" charset="-122"/>
                <a:cs typeface="Arial" panose="020B0604020202020204" pitchFamily="34" charset="0"/>
              </a:rPr>
              <a:t>Ranking entre Escolas</a:t>
            </a:r>
            <a:endParaRPr lang="en-US" sz="1550" dirty="0">
              <a:solidFill>
                <a:schemeClr val="bg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5233360" y="6087070"/>
            <a:ext cx="629686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  <a:t>Competição saudável que amplifica o engajamento coletivo</a:t>
            </a:r>
            <a:endParaRPr lang="en-US" sz="1250" dirty="0">
              <a:solidFill>
                <a:schemeClr val="bg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D0969022-EDB3-42E8-80D9-C3F9D3CE972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806" y="0"/>
            <a:ext cx="47014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6175DC03-E215-4FFF-843D-D2C7FF05F0F3}"/>
              </a:ext>
            </a:extLst>
          </p:cNvPr>
          <p:cNvSpPr/>
          <p:nvPr/>
        </p:nvSpPr>
        <p:spPr>
          <a:xfrm>
            <a:off x="636075" y="1774774"/>
            <a:ext cx="8519391" cy="78611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hape 0"/>
          <p:cNvSpPr/>
          <p:nvPr/>
        </p:nvSpPr>
        <p:spPr>
          <a:xfrm>
            <a:off x="661475" y="1425377"/>
            <a:ext cx="1858916" cy="287139"/>
          </a:xfrm>
          <a:prstGeom prst="roundRect">
            <a:avLst>
              <a:gd name="adj" fmla="val 47396"/>
            </a:avLst>
          </a:prstGeom>
          <a:solidFill>
            <a:srgbClr val="CCFFEF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482030"/>
            <a:ext cx="224169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B4A4A"/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  <a:t>VIABILIDADE E ESCALA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61475" y="178812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6747"/>
                </a:solidFill>
                <a:latin typeface="Arial" panose="020B0604020202020204" pitchFamily="34" charset="0"/>
                <a:ea typeface="Noto Serif Bold" pitchFamily="34" charset="-122"/>
                <a:cs typeface="Arial" panose="020B0604020202020204" pitchFamily="34" charset="0"/>
              </a:rPr>
              <a:t>Público-Alvo e Fontes de Receita</a:t>
            </a:r>
            <a:endParaRPr lang="en-US" sz="3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61475" y="2851249"/>
            <a:ext cx="5203794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Arial" panose="020B0604020202020204" pitchFamily="34" charset="0"/>
                <a:ea typeface="Noto Color Emoji" pitchFamily="34" charset="-122"/>
                <a:cs typeface="Arial" panose="020B0604020202020204" pitchFamily="34" charset="0"/>
              </a:rPr>
              <a:t>🎯</a:t>
            </a:r>
            <a:r>
              <a:rPr lang="en-US" sz="1850" b="1" dirty="0">
                <a:solidFill>
                  <a:srgbClr val="006747"/>
                </a:solidFill>
                <a:latin typeface="Arial" panose="020B0604020202020204" pitchFamily="34" charset="0"/>
                <a:ea typeface="Noto Serif Bold" pitchFamily="34" charset="-122"/>
                <a:cs typeface="Arial" panose="020B0604020202020204" pitchFamily="34" charset="0"/>
              </a:rPr>
              <a:t> Quem Compra</a:t>
            </a:r>
            <a:endParaRPr lang="en-US" sz="1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075" y="3340100"/>
            <a:ext cx="2509179" cy="6413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01281" y="3365500"/>
            <a:ext cx="224397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Noto Serif Bold" pitchFamily="34" charset="-122"/>
                <a:cs typeface="Arial" panose="020B0604020202020204" pitchFamily="34" charset="0"/>
              </a:rPr>
              <a:t>Escolas públicas e privadas</a:t>
            </a:r>
            <a:endParaRPr lang="en-US" sz="1850" dirty="0">
              <a:solidFill>
                <a:schemeClr val="bg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6089" y="3340100"/>
            <a:ext cx="2509179" cy="6413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21295" y="3365500"/>
            <a:ext cx="224397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Noto Serif Bold" pitchFamily="34" charset="-122"/>
                <a:cs typeface="Arial" panose="020B0604020202020204" pitchFamily="34" charset="0"/>
              </a:rPr>
              <a:t>Condomínios e parques urbanos</a:t>
            </a:r>
            <a:endParaRPr lang="en-US" sz="1850" dirty="0">
              <a:solidFill>
                <a:schemeClr val="bg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6075" y="4308673"/>
            <a:ext cx="2509179" cy="9366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01281" y="4334073"/>
            <a:ext cx="224397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Noto Serif Bold" pitchFamily="34" charset="-122"/>
                <a:cs typeface="Arial" panose="020B0604020202020204" pitchFamily="34" charset="0"/>
              </a:rPr>
              <a:t>Empresas com agenda ESG</a:t>
            </a:r>
            <a:endParaRPr lang="en-US" sz="1850" dirty="0">
              <a:solidFill>
                <a:schemeClr val="bg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56089" y="4308673"/>
            <a:ext cx="2509179" cy="93662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621295" y="4334073"/>
            <a:ext cx="2243974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Noto Serif Bold" pitchFamily="34" charset="-122"/>
                <a:cs typeface="Arial" panose="020B0604020202020204" pitchFamily="34" charset="0"/>
              </a:rPr>
              <a:t>Meliponicultores iniciantes e entusiastas</a:t>
            </a:r>
            <a:endParaRPr lang="en-US" sz="1850" dirty="0">
              <a:solidFill>
                <a:schemeClr val="bg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6332776" y="2851249"/>
            <a:ext cx="5203794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Arial" panose="020B0604020202020204" pitchFamily="34" charset="0"/>
                <a:ea typeface="Noto Color Emoji" pitchFamily="34" charset="-122"/>
                <a:cs typeface="Arial" panose="020B0604020202020204" pitchFamily="34" charset="0"/>
              </a:rPr>
              <a:t>💰</a:t>
            </a:r>
            <a:r>
              <a:rPr lang="en-US" sz="1850" b="1" dirty="0">
                <a:solidFill>
                  <a:srgbClr val="006747"/>
                </a:solidFill>
                <a:latin typeface="Arial" panose="020B0604020202020204" pitchFamily="34" charset="0"/>
                <a:ea typeface="Noto Serif Bold" pitchFamily="34" charset="-122"/>
                <a:cs typeface="Arial" panose="020B0604020202020204" pitchFamily="34" charset="0"/>
              </a:rPr>
              <a:t> Fontes de Receita</a:t>
            </a:r>
            <a:endParaRPr lang="en-US" sz="1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7377" y="3340100"/>
            <a:ext cx="2509179" cy="6413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572582" y="3365500"/>
            <a:ext cx="224397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Noto Serif Bold" pitchFamily="34" charset="-122"/>
                <a:cs typeface="Arial" panose="020B0604020202020204" pitchFamily="34" charset="0"/>
              </a:rPr>
              <a:t>Venda de caixas personalizadas</a:t>
            </a:r>
            <a:endParaRPr lang="en-US" sz="1850" dirty="0">
              <a:solidFill>
                <a:schemeClr val="bg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27391" y="3340100"/>
            <a:ext cx="2509179" cy="64135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292596" y="3365500"/>
            <a:ext cx="224397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Noto Serif Bold" pitchFamily="34" charset="-122"/>
                <a:cs typeface="Arial" panose="020B0604020202020204" pitchFamily="34" charset="0"/>
              </a:rPr>
              <a:t>Kits de sementes e mudas nativas</a:t>
            </a:r>
            <a:endParaRPr lang="en-US" sz="1850" dirty="0">
              <a:solidFill>
                <a:schemeClr val="bg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07377" y="4308673"/>
            <a:ext cx="2509179" cy="936625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572582" y="4334073"/>
            <a:ext cx="2243974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Noto Serif Bold" pitchFamily="34" charset="-122"/>
                <a:cs typeface="Arial" panose="020B0604020202020204" pitchFamily="34" charset="0"/>
              </a:rPr>
              <a:t>Assinaturas do módulo educacional</a:t>
            </a:r>
            <a:endParaRPr lang="en-US" sz="1850" dirty="0">
              <a:solidFill>
                <a:schemeClr val="bg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27391" y="4308673"/>
            <a:ext cx="2509179" cy="936625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9292596" y="4334073"/>
            <a:ext cx="224397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Noto Serif Bold" pitchFamily="34" charset="-122"/>
                <a:cs typeface="Arial" panose="020B0604020202020204" pitchFamily="34" charset="0"/>
              </a:rPr>
              <a:t>Licenciamento e monitoramento</a:t>
            </a:r>
            <a:endParaRPr lang="en-US" sz="1850" dirty="0">
              <a:solidFill>
                <a:schemeClr val="bg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57895C91-BFB2-49C2-818A-DB85630CF030}"/>
              </a:ext>
            </a:extLst>
          </p:cNvPr>
          <p:cNvSpPr/>
          <p:nvPr/>
        </p:nvSpPr>
        <p:spPr>
          <a:xfrm>
            <a:off x="5973712" y="940792"/>
            <a:ext cx="5656170" cy="67378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Shape 0"/>
          <p:cNvSpPr/>
          <p:nvPr/>
        </p:nvSpPr>
        <p:spPr>
          <a:xfrm>
            <a:off x="5233360" y="653653"/>
            <a:ext cx="871119" cy="287139"/>
          </a:xfrm>
          <a:prstGeom prst="roundRect">
            <a:avLst>
              <a:gd name="adj" fmla="val 47396"/>
            </a:avLst>
          </a:prstGeom>
          <a:solidFill>
            <a:srgbClr val="CCFFEF"/>
          </a:solidFill>
          <a:ln/>
        </p:spPr>
      </p:sp>
      <p:sp>
        <p:nvSpPr>
          <p:cNvPr id="4" name="Text 1"/>
          <p:cNvSpPr/>
          <p:nvPr/>
        </p:nvSpPr>
        <p:spPr>
          <a:xfrm>
            <a:off x="5973712" y="396571"/>
            <a:ext cx="125389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B4A4A"/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  <a:t>IMPACTO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125055" y="940792"/>
            <a:ext cx="5504827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6747"/>
                </a:solidFill>
                <a:latin typeface="Arial" panose="020B0604020202020204" pitchFamily="34" charset="0"/>
                <a:ea typeface="Noto Serif Bold" pitchFamily="34" charset="-122"/>
                <a:cs typeface="Arial" panose="020B0604020202020204" pitchFamily="34" charset="0"/>
              </a:rPr>
              <a:t>Números que Inspiram</a:t>
            </a:r>
            <a:endParaRPr lang="en-US" sz="3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569257" y="1984970"/>
            <a:ext cx="3030263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Noto Serif Bold" pitchFamily="34" charset="-122"/>
                <a:cs typeface="Arial" panose="020B0604020202020204" pitchFamily="34" charset="0"/>
              </a:rPr>
              <a:t>80%</a:t>
            </a:r>
            <a:endParaRPr lang="en-US" sz="4900" dirty="0">
              <a:solidFill>
                <a:schemeClr val="bg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569257" y="2844899"/>
            <a:ext cx="30302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Noto Serif Bold" pitchFamily="34" charset="-122"/>
                <a:cs typeface="Arial" panose="020B0604020202020204" pitchFamily="34" charset="0"/>
              </a:rPr>
              <a:t>da flora nativa</a:t>
            </a:r>
            <a:endParaRPr lang="en-US" sz="1850" dirty="0">
              <a:solidFill>
                <a:schemeClr val="bg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847205" y="3253581"/>
            <a:ext cx="239509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  <a:t>depende da polinização das abelhas nativas</a:t>
            </a:r>
            <a:endParaRPr lang="en-US" sz="1450" dirty="0">
              <a:solidFill>
                <a:schemeClr val="bg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599520" y="1994445"/>
            <a:ext cx="3030362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Noto Serif Bold" pitchFamily="34" charset="-122"/>
                <a:cs typeface="Arial" panose="020B0604020202020204" pitchFamily="34" charset="0"/>
              </a:rPr>
              <a:t>300+</a:t>
            </a:r>
            <a:endParaRPr lang="en-US" sz="4900" dirty="0">
              <a:solidFill>
                <a:schemeClr val="bg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599520" y="2854374"/>
            <a:ext cx="30303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Noto Serif Bold" pitchFamily="34" charset="-122"/>
                <a:cs typeface="Arial" panose="020B0604020202020204" pitchFamily="34" charset="0"/>
              </a:rPr>
              <a:t>espécies de ASF</a:t>
            </a:r>
            <a:endParaRPr lang="en-US" sz="1850" dirty="0">
              <a:solidFill>
                <a:schemeClr val="bg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599520" y="3263056"/>
            <a:ext cx="30303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  <a:t>abelhas sem ferrão nativas do Brasil</a:t>
            </a:r>
            <a:endParaRPr lang="en-US" sz="1450" dirty="0">
              <a:solidFill>
                <a:schemeClr val="bg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350653" y="4330898"/>
            <a:ext cx="3030362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dirty="0">
                <a:solidFill>
                  <a:srgbClr val="4B4A4A"/>
                </a:solidFill>
                <a:latin typeface="Arial" panose="020B0604020202020204" pitchFamily="34" charset="0"/>
                <a:ea typeface="Noto Serif Bold" pitchFamily="34" charset="-122"/>
                <a:cs typeface="Arial" panose="020B0604020202020204" pitchFamily="34" charset="0"/>
              </a:rPr>
              <a:t>1</a:t>
            </a:r>
            <a:endParaRPr lang="en-US" sz="4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350653" y="5190827"/>
            <a:ext cx="30303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Noto Serif Bold" pitchFamily="34" charset="-122"/>
                <a:cs typeface="Arial" panose="020B0604020202020204" pitchFamily="34" charset="0"/>
              </a:rPr>
              <a:t>habitat completo</a:t>
            </a:r>
            <a:endParaRPr lang="en-US" sz="1850" dirty="0">
              <a:solidFill>
                <a:schemeClr val="bg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350653" y="5599509"/>
            <a:ext cx="30303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  <a:t>kit que transforma qualquer espaço em refúgio ecológico</a:t>
            </a:r>
            <a:endParaRPr lang="en-US" sz="1450" dirty="0">
              <a:solidFill>
                <a:schemeClr val="bg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6F553062-09AA-4501-937D-059488D64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66891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3314B6F1-9BA2-44A9-B6FD-ED7B2EE14C0E}"/>
              </a:ext>
            </a:extLst>
          </p:cNvPr>
          <p:cNvSpPr/>
          <p:nvPr/>
        </p:nvSpPr>
        <p:spPr>
          <a:xfrm>
            <a:off x="661475" y="457200"/>
            <a:ext cx="5434525" cy="133250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ext 0"/>
          <p:cNvSpPr/>
          <p:nvPr/>
        </p:nvSpPr>
        <p:spPr>
          <a:xfrm>
            <a:off x="661475" y="570111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6747"/>
                </a:solidFill>
                <a:latin typeface="Arial" panose="020B0604020202020204" pitchFamily="34" charset="0"/>
                <a:ea typeface="Noto Serif Bold" pitchFamily="34" charset="-122"/>
                <a:cs typeface="Arial" panose="020B0604020202020204" pitchFamily="34" charset="0"/>
              </a:rPr>
              <a:t>A BeeTech Não Vende Apenas Colmeias</a:t>
            </a:r>
            <a:endParaRPr lang="en-US" sz="3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944936" y="2247503"/>
            <a:ext cx="601339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chemeClr val="bg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  <a:t>"Entregamos habitats completos, conectamos pessoas à natureza através da tecnologia e transformamos a preservação das abelhas nativas em uma experiência prática, educativa e apaixonante."</a:t>
            </a:r>
            <a:endParaRPr lang="en-US" sz="1450" dirty="0">
              <a:solidFill>
                <a:schemeClr val="bg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61475" y="2034877"/>
            <a:ext cx="25399" cy="1332508"/>
          </a:xfrm>
          <a:prstGeom prst="roundRect">
            <a:avLst>
              <a:gd name="adj" fmla="val 50001"/>
            </a:avLst>
          </a:prstGeom>
          <a:solidFill>
            <a:srgbClr val="006747"/>
          </a:solidFill>
          <a:ln/>
        </p:spPr>
      </p:sp>
      <p:sp>
        <p:nvSpPr>
          <p:cNvPr id="6" name="Shape 3"/>
          <p:cNvSpPr/>
          <p:nvPr/>
        </p:nvSpPr>
        <p:spPr>
          <a:xfrm>
            <a:off x="661475" y="3580011"/>
            <a:ext cx="3053877" cy="1410593"/>
          </a:xfrm>
          <a:prstGeom prst="roundRect">
            <a:avLst>
              <a:gd name="adj" fmla="val 12060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6832" y="3775373"/>
            <a:ext cx="2663163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Arial" panose="020B0604020202020204" pitchFamily="34" charset="0"/>
                <a:ea typeface="Noto Color Emoji" pitchFamily="34" charset="-122"/>
                <a:cs typeface="Arial" panose="020B0604020202020204" pitchFamily="34" charset="0"/>
              </a:rPr>
              <a:t>🌍</a:t>
            </a:r>
            <a:r>
              <a:rPr lang="en-US" sz="1850" b="1" dirty="0">
                <a:solidFill>
                  <a:srgbClr val="4B4A4A"/>
                </a:solidFill>
                <a:latin typeface="Arial" panose="020B0604020202020204" pitchFamily="34" charset="0"/>
                <a:ea typeface="Noto Serif Bold" pitchFamily="34" charset="-122"/>
                <a:cs typeface="Arial" panose="020B0604020202020204" pitchFamily="34" charset="0"/>
              </a:rPr>
              <a:t> Preservar</a:t>
            </a:r>
            <a:endParaRPr lang="en-US" sz="1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56832" y="4190405"/>
            <a:ext cx="26631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  <a:t>Proteger a biodiversidade brasileira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904359" y="3580011"/>
            <a:ext cx="3053976" cy="1410593"/>
          </a:xfrm>
          <a:prstGeom prst="roundRect">
            <a:avLst>
              <a:gd name="adj" fmla="val 12060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99715" y="3775373"/>
            <a:ext cx="2663262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Arial" panose="020B0604020202020204" pitchFamily="34" charset="0"/>
                <a:ea typeface="Noto Color Emoji" pitchFamily="34" charset="-122"/>
                <a:cs typeface="Arial" panose="020B0604020202020204" pitchFamily="34" charset="0"/>
              </a:rPr>
              <a:t>📚</a:t>
            </a:r>
            <a:r>
              <a:rPr lang="en-US" sz="1850" b="1" dirty="0">
                <a:solidFill>
                  <a:srgbClr val="4B4A4A"/>
                </a:solidFill>
                <a:latin typeface="Arial" panose="020B0604020202020204" pitchFamily="34" charset="0"/>
                <a:ea typeface="Noto Serif Bold" pitchFamily="34" charset="-122"/>
                <a:cs typeface="Arial" panose="020B0604020202020204" pitchFamily="34" charset="0"/>
              </a:rPr>
              <a:t> Educar</a:t>
            </a:r>
            <a:endParaRPr lang="en-US" sz="1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099715" y="4190405"/>
            <a:ext cx="266326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  <a:t>Formar cidadãos conscientes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61475" y="5179616"/>
            <a:ext cx="6296860" cy="1108174"/>
          </a:xfrm>
          <a:prstGeom prst="roundRect">
            <a:avLst>
              <a:gd name="adj" fmla="val 15351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6832" y="5374977"/>
            <a:ext cx="590614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Arial" panose="020B0604020202020204" pitchFamily="34" charset="0"/>
                <a:ea typeface="Noto Color Emoji" pitchFamily="34" charset="-122"/>
                <a:cs typeface="Arial" panose="020B0604020202020204" pitchFamily="34" charset="0"/>
              </a:rPr>
              <a:t>🚀</a:t>
            </a:r>
            <a:r>
              <a:rPr lang="en-US" sz="1850" b="1" dirty="0">
                <a:solidFill>
                  <a:srgbClr val="4B4A4A"/>
                </a:solidFill>
                <a:latin typeface="Arial" panose="020B0604020202020204" pitchFamily="34" charset="0"/>
                <a:ea typeface="Noto Serif Bold" pitchFamily="34" charset="-122"/>
                <a:cs typeface="Arial" panose="020B0604020202020204" pitchFamily="34" charset="0"/>
              </a:rPr>
              <a:t> Escalar</a:t>
            </a:r>
            <a:endParaRPr lang="en-US" sz="1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56832" y="5790009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Arial" panose="020B0604020202020204" pitchFamily="34" charset="0"/>
                <a:ea typeface="Geist" pitchFamily="34" charset="-122"/>
                <a:cs typeface="Arial" panose="020B0604020202020204" pitchFamily="34" charset="0"/>
              </a:rPr>
              <a:t>Crescer com impacto real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2F8FA230-FAC0-4762-83FD-1BE82D3C2D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465"/>
          <a:stretch/>
        </p:blipFill>
        <p:spPr>
          <a:xfrm>
            <a:off x="7147342" y="0"/>
            <a:ext cx="5044657" cy="6858000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Personalizada 1">
      <a:dk1>
        <a:sysClr val="windowText" lastClr="000000"/>
      </a:dk1>
      <a:lt1>
        <a:sysClr val="window" lastClr="FFFFFF"/>
      </a:lt1>
      <a:dk2>
        <a:srgbClr val="1CADE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367</TotalTime>
  <Words>768</Words>
  <Application>Microsoft Office PowerPoint</Application>
  <PresentationFormat>Widescreen</PresentationFormat>
  <Paragraphs>112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6" baseType="lpstr">
      <vt:lpstr>Calibri</vt:lpstr>
      <vt:lpstr>Wingdings 3</vt:lpstr>
      <vt:lpstr>Geist</vt:lpstr>
      <vt:lpstr>Arial</vt:lpstr>
      <vt:lpstr>Century Gothic</vt:lpstr>
      <vt:lpstr>Íon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lastModifiedBy>melaine borges</cp:lastModifiedBy>
  <cp:revision>25</cp:revision>
  <dcterms:created xsi:type="dcterms:W3CDTF">2026-09-21T11:50:59Z</dcterms:created>
  <dcterms:modified xsi:type="dcterms:W3CDTF">2026-09-21T17:59:15Z</dcterms:modified>
</cp:coreProperties>
</file>